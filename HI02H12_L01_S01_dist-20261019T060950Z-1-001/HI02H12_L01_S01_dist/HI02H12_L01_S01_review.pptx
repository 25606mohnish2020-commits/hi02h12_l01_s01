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0" roundtripDataSignature="AMtx7mi8GaZS2rWSmM2SNZUoj49H1e9b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i-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i-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i-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i-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i-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i-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i-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i-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4"/>
          <p:cNvSpPr/>
          <p:nvPr>
            <p:ph idx="2" type="pic"/>
          </p:nvPr>
        </p:nvSpPr>
        <p:spPr>
          <a:xfrm>
            <a:off x="1792288" y="612775"/>
            <a:ext cx="5486400" cy="4114800"/>
          </a:xfrm>
          <a:prstGeom prst="rect">
            <a:avLst/>
          </a:prstGeom>
          <a:noFill/>
          <a:ln>
            <a:noFill/>
          </a:ln>
        </p:spPr>
      </p:sp>
      <p:sp>
        <p:nvSpPr>
          <p:cNvPr id="64" name="Google Shape;64;p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i-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i-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i-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hi-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731520" y="2377440"/>
            <a:ext cx="10728655" cy="20116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hi-IN" sz="4000" u="none" cap="none" strike="noStrike">
                <a:solidFill>
                  <a:srgbClr val="0B3D8C"/>
                </a:solidFill>
                <a:latin typeface="Calibri"/>
                <a:ea typeface="Calibri"/>
                <a:cs typeface="Calibri"/>
                <a:sym typeface="Calibri"/>
              </a:rPr>
              <a:t>HI02H12_L01_S01 — रुको, सोचो, चिह्न लगाओ</a:t>
            </a:r>
            <a:endParaRPr/>
          </a:p>
          <a:p>
            <a:pPr indent="0" lvl="0" marL="0" marR="0" rtl="0" algn="ctr">
              <a:spcBef>
                <a:spcPts val="0"/>
              </a:spcBef>
              <a:spcAft>
                <a:spcPts val="0"/>
              </a:spcAft>
              <a:buNone/>
            </a:pPr>
            <a:r>
              <a:rPr b="0" i="0" lang="hi-IN" sz="1800" u="none" cap="none" strike="noStrike">
                <a:solidFill>
                  <a:srgbClr val="5A6678"/>
                </a:solidFill>
                <a:latin typeface="Calibri"/>
                <a:ea typeface="Calibri"/>
                <a:cs typeface="Calibri"/>
                <a:sym typeface="Calibri"/>
              </a:rPr>
              <a:t>Page-by-page review · 19 pages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640080" y="457200"/>
            <a:ext cx="10911535"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hi-IN" sz="2800" u="none" cap="none" strike="noStrike">
                <a:solidFill>
                  <a:srgbClr val="0B3D8C"/>
                </a:solidFill>
                <a:latin typeface="Calibri"/>
                <a:ea typeface="Calibri"/>
                <a:cs typeface="Calibri"/>
                <a:sym typeface="Calibri"/>
              </a:rPr>
              <a:t>Overall recommendations &amp; open questions</a:t>
            </a:r>
            <a:endParaRPr/>
          </a:p>
        </p:txBody>
      </p:sp>
      <p:sp>
        <p:nvSpPr>
          <p:cNvPr id="90" name="Google Shape;90;p2"/>
          <p:cNvSpPr txBox="1"/>
          <p:nvPr/>
        </p:nvSpPr>
        <p:spPr>
          <a:xfrm>
            <a:off x="822960" y="1463040"/>
            <a:ext cx="10545775" cy="4937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hi-IN" sz="1700">
                <a:solidFill>
                  <a:srgbClr val="1B2A44"/>
                </a:solidFill>
                <a:latin typeface="Calibri"/>
                <a:ea typeface="Calibri"/>
                <a:cs typeface="Calibri"/>
                <a:sym typeface="Calibri"/>
              </a:rPr>
              <a:t>• {'title': 'HI02H12_L01_S01 · विराम-चिह्न — सही ठहराव, सही चिह्न', 'summary': ['Teaches: hearing the difference between a run-on reading and a correctly paused one, and placing । , ? in the right place.', 'New engine mechanic: BUILD_PUNCT — drag or tap a mark into the gap between words (tutorial = autonomous demos).', 'Tests: 10 — place marks ×6 (produce), listen &amp; pick the right pauses ×3, question/statement sort ×1.', "⚠️ 'पढ़कर सुनाना' (the child reading aloud) needs speech input, which the engine doesn't have: substituted by listen-and-pick + an un-assessed echo-read prompt. Recording/assessing the child = future mechanic.", 'Sentences authored for this game (no source text); 11 generated pictures. VO: Gemini Kore.', 'For SME: sentence wording, the oral-reading substitute, title; EAR-CHECK vo_nm_prashn (backup route).']}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1 · 01_landing.png</a:t>
            </a:r>
            <a:endParaRPr/>
          </a:p>
        </p:txBody>
      </p:sp>
      <p:pic>
        <p:nvPicPr>
          <p:cNvPr descr="01_landing.png" id="96" name="Google Shape;96;p3"/>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97" name="Google Shape;97;p3"/>
          <p:cNvSpPr txBox="1"/>
          <p:nvPr/>
        </p:nvSpPr>
        <p:spPr>
          <a:xfrm>
            <a:off x="8229600" y="731520"/>
            <a:ext cx="3596335" cy="20005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Landing —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Text - विराम चिह्न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400">
                <a:solidFill>
                  <a:schemeClr val="dk1"/>
                </a:solidFill>
                <a:latin typeface="Calibri"/>
                <a:ea typeface="Calibri"/>
                <a:cs typeface="Calibri"/>
                <a:sym typeface="Calibri"/>
              </a:rPr>
              <a:t>Vo - नमस्ते दोस्त, मैं हूँ swiftee, आज हम वाक्य में लगने वाले कुछ विराम चिह्न जानेंगे । </a:t>
            </a:r>
            <a:endParaRPr/>
          </a:p>
          <a:p>
            <a:pPr indent="0" lvl="0" marL="0" marR="0" rtl="0" algn="l">
              <a:spcBef>
                <a:spcPts val="0"/>
              </a:spcBef>
              <a:spcAft>
                <a:spcPts val="0"/>
              </a:spcAft>
              <a:buNone/>
            </a:pPr>
            <a:r>
              <a:rPr lang="hi-IN" sz="1400">
                <a:solidFill>
                  <a:schemeClr val="dk1"/>
                </a:solidFill>
                <a:latin typeface="Calibri"/>
                <a:ea typeface="Calibri"/>
                <a:cs typeface="Calibri"/>
                <a:sym typeface="Calibri"/>
              </a:rPr>
              <a:t>Image- । ,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2 · 02_PHASE_TRANSITION.png</a:t>
            </a:r>
            <a:endParaRPr/>
          </a:p>
        </p:txBody>
      </p:sp>
      <p:pic>
        <p:nvPicPr>
          <p:cNvPr descr="02_PHASE_TRANSITION.png" id="103" name="Google Shape;103;p4"/>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104" name="Google Shape;104;p4"/>
          <p:cNvSpPr txBox="1"/>
          <p:nvPr/>
        </p:nvSpPr>
        <p:spPr>
          <a:xfrm>
            <a:off x="8229600" y="731520"/>
            <a:ext cx="3596335"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100">
                <a:solidFill>
                  <a:srgbClr val="1B2A44"/>
                </a:solidFill>
                <a:latin typeface="Calibri"/>
                <a:ea typeface="Calibri"/>
                <a:cs typeface="Calibri"/>
                <a:sym typeface="Calibri"/>
              </a:rPr>
              <a:t>vo- </a:t>
            </a:r>
            <a:r>
              <a:rPr lang="hi-IN" sz="1400">
                <a:solidFill>
                  <a:schemeClr val="dk1"/>
                </a:solidFill>
                <a:latin typeface="Calibri"/>
                <a:ea typeface="Calibri"/>
                <a:cs typeface="Calibri"/>
                <a:sym typeface="Calibri"/>
              </a:rPr>
              <a:t>ध्यान से देखिए और मेरे साथ जानिए, चलिए शुरू करें । </a:t>
            </a:r>
            <a:endParaRPr sz="1300">
              <a:solidFill>
                <a:srgbClr val="1B2A44"/>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2 · 02_PHASE_TRANSITION.png</a:t>
            </a:r>
            <a:endParaRPr/>
          </a:p>
        </p:txBody>
      </p:sp>
      <p:sp>
        <p:nvSpPr>
          <p:cNvPr id="110" name="Google Shape;110;p5"/>
          <p:cNvSpPr txBox="1"/>
          <p:nvPr/>
        </p:nvSpPr>
        <p:spPr>
          <a:xfrm>
            <a:off x="8229600" y="731520"/>
            <a:ext cx="3596335" cy="45397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b="1" sz="1600">
              <a:solidFill>
                <a:srgbClr val="0B3D8C"/>
              </a:solidFill>
              <a:latin typeface="Calibri"/>
              <a:ea typeface="Calibri"/>
              <a:cs typeface="Calibri"/>
              <a:sym typeface="Calibri"/>
            </a:endParaRPr>
          </a:p>
          <a:p>
            <a:pPr indent="0" lvl="0" marL="0" marR="0" rtl="0" algn="l">
              <a:spcBef>
                <a:spcPts val="0"/>
              </a:spcBef>
              <a:spcAft>
                <a:spcPts val="0"/>
              </a:spcAft>
              <a:buNone/>
            </a:pPr>
            <a:r>
              <a:rPr b="1" lang="hi-IN" sz="1600">
                <a:solidFill>
                  <a:srgbClr val="0B3D8C"/>
                </a:solidFill>
                <a:latin typeface="Calibri"/>
                <a:ea typeface="Calibri"/>
                <a:cs typeface="Calibri"/>
                <a:sym typeface="Calibri"/>
              </a:rPr>
              <a:t>Text – आइए वाक्य सुनें। </a:t>
            </a:r>
            <a:endParaRPr b="1" sz="1600">
              <a:solidFill>
                <a:srgbClr val="0B3D8C"/>
              </a:solidFill>
              <a:latin typeface="Calibri"/>
              <a:ea typeface="Calibri"/>
              <a:cs typeface="Calibri"/>
              <a:sym typeface="Calibri"/>
            </a:endParaRPr>
          </a:p>
          <a:p>
            <a:pPr indent="0" lvl="0" marL="0" marR="0" rtl="0" algn="l">
              <a:spcBef>
                <a:spcPts val="0"/>
              </a:spcBef>
              <a:spcAft>
                <a:spcPts val="0"/>
              </a:spcAft>
              <a:buNone/>
            </a:pPr>
            <a:r>
              <a:t/>
            </a:r>
            <a:endParaRPr sz="1100">
              <a:solidFill>
                <a:srgbClr val="1B2A44"/>
              </a:solidFill>
              <a:latin typeface="Calibri"/>
              <a:ea typeface="Calibri"/>
              <a:cs typeface="Calibri"/>
              <a:sym typeface="Calibri"/>
            </a:endParaRPr>
          </a:p>
          <a:p>
            <a:pPr indent="0" lvl="0" marL="0" marR="0" rtl="0" algn="l">
              <a:spcBef>
                <a:spcPts val="0"/>
              </a:spcBef>
              <a:spcAft>
                <a:spcPts val="0"/>
              </a:spcAft>
              <a:buNone/>
            </a:pPr>
            <a:r>
              <a:rPr lang="hi-IN" sz="1100">
                <a:solidFill>
                  <a:srgbClr val="1B2A44"/>
                </a:solidFill>
                <a:latin typeface="Calibri"/>
                <a:ea typeface="Calibri"/>
                <a:cs typeface="Calibri"/>
                <a:sym typeface="Calibri"/>
              </a:rPr>
              <a:t>vo- आइए इन वाक्यों को सुनते हैं। </a:t>
            </a:r>
            <a:endParaRPr/>
          </a:p>
          <a:p>
            <a:pPr indent="0" lvl="0" marL="0" marR="0" rtl="0" algn="l">
              <a:spcBef>
                <a:spcPts val="0"/>
              </a:spcBef>
              <a:spcAft>
                <a:spcPts val="0"/>
              </a:spcAft>
              <a:buNone/>
            </a:pPr>
            <a:r>
              <a:t/>
            </a:r>
            <a:endParaRPr sz="1100">
              <a:solidFill>
                <a:srgbClr val="1B2A44"/>
              </a:solidFill>
              <a:latin typeface="Calibri"/>
              <a:ea typeface="Calibri"/>
              <a:cs typeface="Calibri"/>
              <a:sym typeface="Calibri"/>
            </a:endParaRPr>
          </a:p>
          <a:p>
            <a:pPr indent="0" lvl="0" marL="0" marR="0" rtl="0" algn="l">
              <a:spcBef>
                <a:spcPts val="0"/>
              </a:spcBef>
              <a:spcAft>
                <a:spcPts val="0"/>
              </a:spcAft>
              <a:buNone/>
            </a:pPr>
            <a:r>
              <a:rPr lang="hi-IN" sz="1400">
                <a:solidFill>
                  <a:schemeClr val="dk1"/>
                </a:solidFill>
                <a:latin typeface="Calibri"/>
                <a:ea typeface="Calibri"/>
                <a:cs typeface="Calibri"/>
                <a:sym typeface="Calibri"/>
              </a:rPr>
              <a:t>Text - चिंटू दौड़कर आया और बोला दादी बिल्ली दूध पी रही है दादी बोली उसे भगाओ मत पीने दो चिंटू हैरान होकर बोला क्या उसे सारा दूध पीने दूँ दादी हँसकर बोली अरे नहीं उसे भगाओ दूध मत पीने दो</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hi-IN" sz="1400">
                <a:solidFill>
                  <a:schemeClr val="dk1"/>
                </a:solidFill>
                <a:latin typeface="Calibri"/>
                <a:ea typeface="Calibri"/>
                <a:cs typeface="Calibri"/>
                <a:sym typeface="Calibri"/>
              </a:rPr>
              <a:t>चिंटू दौड़कर आया और बोला दादी बिल्ली दूध पी रही है दादी बोली उसे भगाओ मत पीने दो चिंटू हैरान होकर बोला क्या उसे सारा दूध पीने दूँ दादी हँसकर बोली अरे नहीं उसे भगाओ दूध मत पीने दो</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hi-IN" sz="1400">
                <a:solidFill>
                  <a:schemeClr val="dk1"/>
                </a:solidFill>
                <a:latin typeface="Calibri"/>
                <a:ea typeface="Calibri"/>
                <a:cs typeface="Calibri"/>
                <a:sym typeface="Calibri"/>
              </a:rPr>
              <a:t>Image- चित्र में दादी और चिंटू को दूर से बात करते हुए दिखाना है । </a:t>
            </a:r>
            <a:endParaRPr/>
          </a:p>
          <a:p>
            <a:pPr indent="0" lvl="0" marL="0" marR="0" rtl="0" algn="l">
              <a:spcBef>
                <a:spcPts val="0"/>
              </a:spcBef>
              <a:spcAft>
                <a:spcPts val="0"/>
              </a:spcAft>
              <a:buNone/>
            </a:pPr>
            <a:r>
              <a:t/>
            </a:r>
            <a:endParaRPr sz="1400">
              <a:solidFill>
                <a:srgbClr val="1B2A44"/>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2 · 02_PHASE_TRANSITION.png</a:t>
            </a:r>
            <a:endParaRPr/>
          </a:p>
        </p:txBody>
      </p:sp>
      <p:sp>
        <p:nvSpPr>
          <p:cNvPr id="116" name="Google Shape;116;p6"/>
          <p:cNvSpPr txBox="1"/>
          <p:nvPr/>
        </p:nvSpPr>
        <p:spPr>
          <a:xfrm>
            <a:off x="8229600" y="731520"/>
            <a:ext cx="3596335" cy="27392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b="1" sz="1600">
              <a:solidFill>
                <a:srgbClr val="0B3D8C"/>
              </a:solidFill>
              <a:latin typeface="Calibri"/>
              <a:ea typeface="Calibri"/>
              <a:cs typeface="Calibri"/>
              <a:sym typeface="Calibri"/>
            </a:endParaRPr>
          </a:p>
          <a:p>
            <a:pPr indent="0" lvl="0" marL="0" marR="0" rtl="0" algn="l">
              <a:spcBef>
                <a:spcPts val="0"/>
              </a:spcBef>
              <a:spcAft>
                <a:spcPts val="0"/>
              </a:spcAft>
              <a:buNone/>
            </a:pPr>
            <a:r>
              <a:rPr b="1" lang="hi-IN" sz="1600">
                <a:solidFill>
                  <a:srgbClr val="0B3D8C"/>
                </a:solidFill>
                <a:latin typeface="Calibri"/>
                <a:ea typeface="Calibri"/>
                <a:cs typeface="Calibri"/>
                <a:sym typeface="Calibri"/>
              </a:rPr>
              <a:t>Text – आइए वाक्य सुनें। </a:t>
            </a:r>
            <a:endParaRPr b="1" sz="1600">
              <a:solidFill>
                <a:srgbClr val="0B3D8C"/>
              </a:solidFill>
              <a:latin typeface="Calibri"/>
              <a:ea typeface="Calibri"/>
              <a:cs typeface="Calibri"/>
              <a:sym typeface="Calibri"/>
            </a:endParaRPr>
          </a:p>
          <a:p>
            <a:pPr indent="0" lvl="0" marL="0" marR="0" rtl="0" algn="l">
              <a:spcBef>
                <a:spcPts val="0"/>
              </a:spcBef>
              <a:spcAft>
                <a:spcPts val="0"/>
              </a:spcAft>
              <a:buNone/>
            </a:pPr>
            <a:r>
              <a:t/>
            </a:r>
            <a:endParaRPr sz="1400">
              <a:solidFill>
                <a:srgbClr val="1B2A44"/>
              </a:solidFill>
              <a:latin typeface="Calibri"/>
              <a:ea typeface="Calibri"/>
              <a:cs typeface="Calibri"/>
              <a:sym typeface="Calibri"/>
            </a:endParaRPr>
          </a:p>
          <a:p>
            <a:pPr indent="0" lvl="0" marL="0" marR="0" rtl="0" algn="l">
              <a:spcBef>
                <a:spcPts val="0"/>
              </a:spcBef>
              <a:spcAft>
                <a:spcPts val="0"/>
              </a:spcAft>
              <a:buNone/>
            </a:pPr>
            <a:r>
              <a:rPr lang="hi-IN" sz="1400">
                <a:solidFill>
                  <a:srgbClr val="1B2A44"/>
                </a:solidFill>
                <a:latin typeface="Calibri"/>
                <a:ea typeface="Calibri"/>
                <a:cs typeface="Calibri"/>
                <a:sym typeface="Calibri"/>
              </a:rPr>
              <a:t>Vo- अब इन्हीं वाक्यों को फिर से सुनते हैं । </a:t>
            </a:r>
            <a:endParaRPr/>
          </a:p>
          <a:p>
            <a:pPr indent="0" lvl="0" marL="0" marR="0" rtl="0" algn="l">
              <a:spcBef>
                <a:spcPts val="0"/>
              </a:spcBef>
              <a:spcAft>
                <a:spcPts val="0"/>
              </a:spcAft>
              <a:buNone/>
            </a:pPr>
            <a:r>
              <a:t/>
            </a:r>
            <a:endParaRPr sz="1400">
              <a:solidFill>
                <a:srgbClr val="1B2A44"/>
              </a:solidFill>
              <a:latin typeface="Calibri"/>
              <a:ea typeface="Calibri"/>
              <a:cs typeface="Calibri"/>
              <a:sym typeface="Calibri"/>
            </a:endParaRPr>
          </a:p>
          <a:p>
            <a:pPr indent="0" lvl="0" marL="0" marR="0" rtl="0" algn="l">
              <a:spcBef>
                <a:spcPts val="0"/>
              </a:spcBef>
              <a:spcAft>
                <a:spcPts val="0"/>
              </a:spcAft>
              <a:buNone/>
            </a:pPr>
            <a:r>
              <a:rPr lang="hi-IN" sz="1400">
                <a:solidFill>
                  <a:schemeClr val="dk1"/>
                </a:solidFill>
                <a:latin typeface="Calibri"/>
                <a:ea typeface="Calibri"/>
                <a:cs typeface="Calibri"/>
                <a:sym typeface="Calibri"/>
              </a:rPr>
              <a:t>चिंटू दौड़कर बोला, “दादी! बिल्ली दूध पी रही है।”</a:t>
            </a:r>
            <a:br>
              <a:rPr lang="hi-IN" sz="1400">
                <a:solidFill>
                  <a:schemeClr val="dk1"/>
                </a:solidFill>
                <a:latin typeface="Calibri"/>
                <a:ea typeface="Calibri"/>
                <a:cs typeface="Calibri"/>
                <a:sym typeface="Calibri"/>
              </a:rPr>
            </a:br>
            <a:r>
              <a:rPr lang="hi-IN" sz="1400">
                <a:solidFill>
                  <a:schemeClr val="dk1"/>
                </a:solidFill>
                <a:latin typeface="Calibri"/>
                <a:ea typeface="Calibri"/>
                <a:cs typeface="Calibri"/>
                <a:sym typeface="Calibri"/>
              </a:rPr>
              <a:t>दादी बोली, “उसे भगाओ, मत पीने दो।”</a:t>
            </a:r>
            <a:br>
              <a:rPr lang="hi-IN" sz="1400">
                <a:solidFill>
                  <a:schemeClr val="dk1"/>
                </a:solidFill>
                <a:latin typeface="Calibri"/>
                <a:ea typeface="Calibri"/>
                <a:cs typeface="Calibri"/>
                <a:sym typeface="Calibri"/>
              </a:rPr>
            </a:br>
            <a:r>
              <a:rPr lang="hi-IN" sz="1400">
                <a:solidFill>
                  <a:schemeClr val="dk1"/>
                </a:solidFill>
                <a:latin typeface="Calibri"/>
                <a:ea typeface="Calibri"/>
                <a:cs typeface="Calibri"/>
                <a:sym typeface="Calibri"/>
              </a:rPr>
              <a:t>चिंटू हैरान होकर बोला, “क्या? उसे सारा दूध पीने दूँ?” दादी हँसकर बोली, “अरे नहीं! उसे भगाओ। दूध मत पीने दो।”</a:t>
            </a:r>
            <a:endParaRPr/>
          </a:p>
          <a:p>
            <a:pPr indent="0" lvl="0" marL="0" marR="0" rtl="0" algn="l">
              <a:spcBef>
                <a:spcPts val="0"/>
              </a:spcBef>
              <a:spcAft>
                <a:spcPts val="0"/>
              </a:spcAft>
              <a:buNone/>
            </a:pPr>
            <a:r>
              <a:t/>
            </a:r>
            <a:endParaRPr sz="1400">
              <a:solidFill>
                <a:srgbClr val="1B2A44"/>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3 · 03_QTYPE_RECAP.png</a:t>
            </a:r>
            <a:endParaRPr/>
          </a:p>
        </p:txBody>
      </p:sp>
      <p:pic>
        <p:nvPicPr>
          <p:cNvPr descr="03_QTYPE_RECAP.png" id="122" name="Google Shape;122;p7"/>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123" name="Google Shape;123;p7"/>
          <p:cNvSpPr txBox="1"/>
          <p:nvPr/>
        </p:nvSpPr>
        <p:spPr>
          <a:xfrm>
            <a:off x="8229600" y="731520"/>
            <a:ext cx="3596335" cy="42165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b="1" sz="1600">
              <a:solidFill>
                <a:srgbClr val="0B3D8C"/>
              </a:solidFill>
              <a:latin typeface="Calibri"/>
              <a:ea typeface="Calibri"/>
              <a:cs typeface="Calibri"/>
              <a:sym typeface="Calibri"/>
            </a:endParaRPr>
          </a:p>
          <a:p>
            <a:pPr indent="0" lvl="0" marL="0" marR="0" rtl="0" algn="l">
              <a:spcBef>
                <a:spcPts val="0"/>
              </a:spcBef>
              <a:spcAft>
                <a:spcPts val="0"/>
              </a:spcAft>
              <a:buNone/>
            </a:pPr>
            <a:r>
              <a:rPr b="1" lang="hi-IN" sz="1600">
                <a:solidFill>
                  <a:srgbClr val="0B3D8C"/>
                </a:solidFill>
                <a:latin typeface="Calibri"/>
                <a:ea typeface="Calibri"/>
                <a:cs typeface="Calibri"/>
                <a:sym typeface="Calibri"/>
              </a:rPr>
              <a:t>Heading text- ये हैं तीन विराम चिह्न </a:t>
            </a:r>
            <a:endParaRPr/>
          </a:p>
          <a:p>
            <a:pPr indent="0" lvl="0" marL="0" marR="0" rtl="0" algn="l">
              <a:spcBef>
                <a:spcPts val="0"/>
              </a:spcBef>
              <a:spcAft>
                <a:spcPts val="0"/>
              </a:spcAft>
              <a:buNone/>
            </a:pPr>
            <a:r>
              <a:t/>
            </a:r>
            <a:endParaRPr b="1" sz="1600">
              <a:solidFill>
                <a:srgbClr val="0B3D8C"/>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a:t>
            </a:r>
            <a:r>
              <a:rPr lang="hi-IN" sz="1200">
                <a:solidFill>
                  <a:srgbClr val="1B2A44"/>
                </a:solidFill>
                <a:latin typeface="Calibri"/>
                <a:ea typeface="Calibri"/>
                <a:cs typeface="Calibri"/>
                <a:sym typeface="Calibri"/>
              </a:rPr>
              <a:t>Vo- आपने देखा, वाक्य में विराम चिह्न कहीं गलत हो तो कैसे वाक्य का अर्थ गड़बड़ हो जाता है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आइए समझते हैं कि कौन-से चिह्न का प्रयोग कब किया जाता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 text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पूर्ण विराम- बात पूरी होने पर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उदाहरण- रीना स्कूल गई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अल्प विराम- थोड़ा रुकने के लिए या अलग-अलग नाम या संख्या लिखते समय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उदाहरण- आम, केला, संतरा और सेब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प्रश्नवाचक चिह्न- सवाल पूछने पर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उदाहरण- तुम्हारा घर कहाँ है?</a:t>
            </a:r>
            <a:endParaRPr sz="1300">
              <a:solidFill>
                <a:srgbClr val="1B2A44"/>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4 · 04_BUILD_PUNCT.png</a:t>
            </a:r>
            <a:endParaRPr/>
          </a:p>
        </p:txBody>
      </p:sp>
      <p:pic>
        <p:nvPicPr>
          <p:cNvPr descr="04_BUILD_PUNCT.png" id="129" name="Google Shape;129;p8"/>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130" name="Google Shape;130;p8"/>
          <p:cNvSpPr txBox="1"/>
          <p:nvPr/>
        </p:nvSpPr>
        <p:spPr>
          <a:xfrm>
            <a:off x="8229600" y="731520"/>
            <a:ext cx="3596335" cy="27392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text- रीना स्कूल जा रही है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रीना स्कूल जा रही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रीना स्कूल जा रही है, पूर्णविराम।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पूर्णविराम बोलने पर वाक्य में सही जगह पर पूर्णविराम का चिह्न लग जाएगा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अब हमें पता चल रहा है कि पढ़ते हुए बात पूरी होने पर हमें कहाँ रुकना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9"/>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5 · 05_BUILD_PUNCT.png</a:t>
            </a:r>
            <a:endParaRPr/>
          </a:p>
        </p:txBody>
      </p:sp>
      <p:pic>
        <p:nvPicPr>
          <p:cNvPr descr="05_BUILD_PUNCT.png" id="136" name="Google Shape;136;p9"/>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137" name="Google Shape;137;p9"/>
          <p:cNvSpPr txBox="1"/>
          <p:nvPr/>
        </p:nvSpPr>
        <p:spPr>
          <a:xfrm>
            <a:off x="8229600" y="731520"/>
            <a:ext cx="3596335" cy="333937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text- तुम्हारा नाम क्या है?</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तुम्हारा नाम क्या है?</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यह एक सवाल है, सवाल के अंत में प्रश्नवाचक चिह्न लगाया जाता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अब दोबारा देखिए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तुम्हारा नाम क्या है?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प्रश्नवाचक चिह्न बोलने पर वाक्य में सही जगह पर प्रश्नवाचक चिह्न लग जाएगा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सवाल पूछते समय क्या, कौन, कब जैसे शब्दों पर ज़ोर देकर पढ़ा जाता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0"/>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6 · 06_BUILD_PUNCT.png</a:t>
            </a:r>
            <a:endParaRPr/>
          </a:p>
        </p:txBody>
      </p:sp>
      <p:pic>
        <p:nvPicPr>
          <p:cNvPr descr="06_BUILD_PUNCT.png" id="143" name="Google Shape;143;p10"/>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144" name="Google Shape;144;p10"/>
          <p:cNvSpPr txBox="1"/>
          <p:nvPr/>
        </p:nvSpPr>
        <p:spPr>
          <a:xfrm>
            <a:off x="8229600" y="731520"/>
            <a:ext cx="3596400" cy="334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text- मेरे पास आम, केला, सेब और संतरा है । Vo- मेरे पास आम केला सेब और संतरा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इस वाक्य में कई सारे नाम एक साथ लिखे गए हैं । जब हमें इस तरह कई नाम लिखने हों तो उनके बीच अल्पविराम आता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अब दोबारा देखिए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मेरे पास आम, केला, सेब और संतरा है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अल्पविराम बोलने पर वाक्य में सही जगह पर चिह्न लग जाएगा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7 · 07_PHASE_TRANSITION.png</a:t>
            </a:r>
            <a:endParaRPr/>
          </a:p>
        </p:txBody>
      </p:sp>
      <p:pic>
        <p:nvPicPr>
          <p:cNvPr descr="07_PHASE_TRANSITION.png" id="150" name="Google Shape;150;p11"/>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151" name="Google Shape;151;p11"/>
          <p:cNvSpPr txBox="1"/>
          <p:nvPr/>
        </p:nvSpPr>
        <p:spPr>
          <a:xfrm>
            <a:off x="8229600" y="731520"/>
            <a:ext cx="3596335" cy="5760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Phase gate 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2"/>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8 · 08_BUILD_PUNCT.png</a:t>
            </a:r>
            <a:endParaRPr/>
          </a:p>
        </p:txBody>
      </p:sp>
      <p:pic>
        <p:nvPicPr>
          <p:cNvPr descr="08_BUILD_PUNCT.png" id="157" name="Google Shape;157;p12"/>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158" name="Google Shape;158;p12"/>
          <p:cNvSpPr txBox="1"/>
          <p:nvPr/>
        </p:nvSpPr>
        <p:spPr>
          <a:xfrm>
            <a:off x="8229600" y="731520"/>
            <a:ext cx="3596335" cy="473975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GUIDED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Text - वाक्य सुनिए और सही चिह्न लगाइए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यह वाक्य सुनकर देखिए और वाक्य में सही जगह पर विराम चिह्न लगाइए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वाक्य- राजू गेंद से खेल रहा था</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दिए गए चिह्न box में नहीं चाहिए, केवल चिह्न होना चाहिए जिसे drag करके लगाया जा सके ।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राजू गेंद से खेल रहा था।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vo- शाबाश!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1- फिर से कोशिश कीजिए । सही विराम चिह्न लगाइए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2- वाक्य पूरा होने पर पूर्णविराम, वाक्य में रुकने पर अल्प विराम और प्रश्न पूछने पर प्रश्नवाचक चिह्न लगाते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3- राजू गेंद से खेल रहा था। वाक्य पूरा होने पर पूर्णविराम लगाया जाता है । hand nudge </a:t>
            </a:r>
            <a:endParaRPr sz="1300">
              <a:solidFill>
                <a:srgbClr val="1B2A44"/>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3"/>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9 · 09_BUILD_PUNCT.png</a:t>
            </a:r>
            <a:endParaRPr/>
          </a:p>
        </p:txBody>
      </p:sp>
      <p:pic>
        <p:nvPicPr>
          <p:cNvPr descr="09_BUILD_PUNCT.png" id="164" name="Google Shape;164;p13"/>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165" name="Google Shape;165;p13"/>
          <p:cNvSpPr txBox="1"/>
          <p:nvPr/>
        </p:nvSpPr>
        <p:spPr>
          <a:xfrm>
            <a:off x="8229600" y="731520"/>
            <a:ext cx="3596335" cy="51398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•Text - वाक्य सुनिए और सही चिह्न लगाइए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यह वाक्य सुनकर देखिए और वाक्य में सही जगह पर विराम चिह्न लगाइए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वाक्य- तुम कहाँ जा रहे हो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दिए गए चिह्न box में नहीं चाहिए, केवल चिह्न होना चाहिए जिसे drag करके लगाया जा सके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तुम कहाँ जा रहे हो?</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vo- शाबाश!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1- फिर से कोशिश कीजिए । सही विराम चिह्न लगाइए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2- वाक्य पूरा होने पर पूर्णविराम, वाक्य में रुकने पर अल्प विराम और प्रश्न पूछने पर प्रश्नवाचक चिह्न लगाते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3- तुम कहाँ जा रहे हो? यह एक प्रश्न है । प्रश्न पूछने पर प्रश्न वाचक चिह्न लगाया जाता है । hand nudge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4"/>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11 · 11_BUILD_PUNCT.png</a:t>
            </a:r>
            <a:endParaRPr/>
          </a:p>
        </p:txBody>
      </p:sp>
      <p:pic>
        <p:nvPicPr>
          <p:cNvPr descr="11_BUILD_PUNCT.png" id="171" name="Google Shape;171;p14"/>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172" name="Google Shape;172;p14"/>
          <p:cNvSpPr txBox="1"/>
          <p:nvPr/>
        </p:nvSpPr>
        <p:spPr>
          <a:xfrm>
            <a:off x="8229600" y="731520"/>
            <a:ext cx="3596335" cy="553997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Text - वाक्य सुनिए और सही चिह्न लगाइए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यह वाक्य सुनकर देखिए और वाक्य में सही जगह पर विराम चिह्न लगाइए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वाक्य- बाग में गुलाब गेंदा और चमेली के फूल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दिए गए चिह्न box में नहीं चाहिए, केवल चिह्न होना चाहिए जिसे drag करके लगाया जा सके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बाग में गुलाब, गेंदा और चमेली के फूल हैं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vo- शाबाश!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1- फिर से कोशिश कीजिए । सही विराम चिह्न लगाइए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2- वाक्य पूरा होने पर पूर्णविराम, वाक्य में रुकने पर अल्प विराम और प्रश्न पूछने पर प्रश्नवाचक चिह्न लगाते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3- बाग में गुलाब, गेंदा और चमेली के फूल हैं । वाक्य में थोड़ा रुकने पर अल्प विराम लगाया जाता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hand nudge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5"/>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10 · 10_EVIDENCE_QA.png</a:t>
            </a:r>
            <a:endParaRPr/>
          </a:p>
        </p:txBody>
      </p:sp>
      <p:sp>
        <p:nvSpPr>
          <p:cNvPr id="178" name="Google Shape;178;p15"/>
          <p:cNvSpPr txBox="1"/>
          <p:nvPr/>
        </p:nvSpPr>
        <p:spPr>
          <a:xfrm>
            <a:off x="8229600" y="731520"/>
            <a:ext cx="3596400" cy="5741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GUIDED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Text - सही विराम चिह्न वाला वाक्य चुनिए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जिस वाक्य में पूर्ण विराम सही जगह लगा है वह वाक्य चुनिए।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Image- लड़की की पतंग उड़ाते हुए image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Options-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लड़की पतंग उड़ा रही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लड़की । पतंग उड़ा रही है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लड़की पतंग उड़ा । रही है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a:t>
            </a:r>
            <a:endParaRPr sz="1300">
              <a:solidFill>
                <a:srgbClr val="1B2A44"/>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hi-IN" sz="1300">
                <a:solidFill>
                  <a:srgbClr val="1B2A44"/>
                </a:solidFill>
                <a:latin typeface="Calibri"/>
                <a:ea typeface="Calibri"/>
                <a:cs typeface="Calibri"/>
                <a:sym typeface="Calibri"/>
              </a:rPr>
              <a:t>लड़की पतंग उड़ा रही है पूर्णविराम </a:t>
            </a:r>
            <a:endParaRPr>
              <a:solidFill>
                <a:schemeClr val="dk1"/>
              </a:solidFill>
            </a:endParaRPr>
          </a:p>
          <a:p>
            <a:pPr indent="0" lvl="0" marL="0" rtl="0" algn="l">
              <a:spcBef>
                <a:spcPts val="0"/>
              </a:spcBef>
              <a:spcAft>
                <a:spcPts val="0"/>
              </a:spcAft>
              <a:buClr>
                <a:schemeClr val="dk1"/>
              </a:buClr>
              <a:buFont typeface="Arial"/>
              <a:buNone/>
            </a:pPr>
            <a:r>
              <a:rPr lang="hi-IN" sz="1300">
                <a:solidFill>
                  <a:srgbClr val="1B2A44"/>
                </a:solidFill>
                <a:latin typeface="Calibri"/>
                <a:ea typeface="Calibri"/>
                <a:cs typeface="Calibri"/>
                <a:sym typeface="Calibri"/>
              </a:rPr>
              <a:t>लड़की पूर्णविराम पतंग उड़ा रही है  </a:t>
            </a:r>
            <a:endParaRPr>
              <a:solidFill>
                <a:schemeClr val="dk1"/>
              </a:solidFill>
            </a:endParaRPr>
          </a:p>
          <a:p>
            <a:pPr indent="0" lvl="0" marL="0" rtl="0" algn="l">
              <a:spcBef>
                <a:spcPts val="0"/>
              </a:spcBef>
              <a:spcAft>
                <a:spcPts val="0"/>
              </a:spcAft>
              <a:buClr>
                <a:schemeClr val="dk1"/>
              </a:buClr>
              <a:buFont typeface="Arial"/>
              <a:buNone/>
            </a:pPr>
            <a:r>
              <a:rPr lang="hi-IN" sz="1300">
                <a:solidFill>
                  <a:srgbClr val="1B2A44"/>
                </a:solidFill>
                <a:latin typeface="Calibri"/>
                <a:ea typeface="Calibri"/>
                <a:cs typeface="Calibri"/>
                <a:sym typeface="Calibri"/>
              </a:rPr>
              <a:t>लड़की पतंग उड़ा पूर्णविराम रही है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लड़की पतंग उड़ा रही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vo- शाबाश! यह सही वाक्य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1- देखिए किस वाक्य में पूर्ण विराम सही जगह लगा है?</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2- तीनों वाक्य का vo आएगा, पूर्ण विराम के हिसाब से वाक्य में रुकना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3- यह सही वाक्य है, इसपर टैप कीजिए । hand nudge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6"/>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14 · 14_EVIDENCE_QA.png</a:t>
            </a:r>
            <a:endParaRPr/>
          </a:p>
        </p:txBody>
      </p:sp>
      <p:sp>
        <p:nvSpPr>
          <p:cNvPr id="184" name="Google Shape;184;p16"/>
          <p:cNvSpPr txBox="1"/>
          <p:nvPr/>
        </p:nvSpPr>
        <p:spPr>
          <a:xfrm>
            <a:off x="8229600" y="731520"/>
            <a:ext cx="3596335" cy="49398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GUIDED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Text - सही विराम चिह्न वाला वाक्य चुनिए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जिस वाक्य में प्रश्न वाचक चिह्न सही जगह लगा है वह वाक्य चुनिए।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Image- दो लड़के दिखाने हैं । एक के हाथ में किताब है जो दूसरे को दिखाते हुए पूछ रहा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Options-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क्या यह आपकी किताब है?</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क्या? यह आपकी किताब है</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क्या यह आपकी? किताब है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क्या यह आपकी किताब है?</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vo- शाबाश! यह सही वाक्य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1- देखिए सही विराम चिह्न वाला वाक्य कौन-सा है?</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2- तीनों वाक्य का vo आएगा, प्रश्न वाचक के हिसाब वाक्य बोलना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3- यह सही वाक्य है, इसपर टैप कीजिए । hand nudge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7"/>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15 · 15_EVIDENCE_QA.png</a:t>
            </a:r>
            <a:endParaRPr/>
          </a:p>
        </p:txBody>
      </p:sp>
      <p:sp>
        <p:nvSpPr>
          <p:cNvPr id="190" name="Google Shape;190;p17"/>
          <p:cNvSpPr txBox="1"/>
          <p:nvPr/>
        </p:nvSpPr>
        <p:spPr>
          <a:xfrm>
            <a:off x="8229600" y="731520"/>
            <a:ext cx="3596335" cy="553997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GUIDED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Text - सही विराम चिह्न वाला वाक्य चुनिए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जिस वाक्य में अल्प विराम सही जगह लगा है वह वाक्य चुनिए।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Image- एक लड़की के हाथ में 4 रंगीन पेंसिल दिखनी है। लाल, नीली, हरी और पीली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Options-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मेरे पास लाल । नीली । हरी और पीली पेंसिल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मेरे पास लाल नीली हरी और पीली पेंसिल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मेरे पास लाल, नीली, हरी और पीली पेंसिल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मेरे पास लाल, नीली, हरी और पीली पेंसिल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vo- शाबाश! यह सही वाक्य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1- देखिए सही विराम चिह्न वाला वाक्य कौन-सा है?</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2- तीनों वाक्य का vo आएगा, विराम चिह्न के हिसाब वाक्य बोलना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3- यह सही वाक्य है, इसपर टैप कीजिए । hand nudge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8"/>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12 · 12_PHASE_TRANSITION.png</a:t>
            </a:r>
            <a:endParaRPr/>
          </a:p>
        </p:txBody>
      </p:sp>
      <p:pic>
        <p:nvPicPr>
          <p:cNvPr descr="12_PHASE_TRANSITION.png" id="196" name="Google Shape;196;p18"/>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197" name="Google Shape;197;p18"/>
          <p:cNvSpPr txBox="1"/>
          <p:nvPr/>
        </p:nvSpPr>
        <p:spPr>
          <a:xfrm>
            <a:off x="8229600" y="731520"/>
            <a:ext cx="3596335" cy="5760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Phase gate 3.</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9"/>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12 · 12_PHASE_TRANSITION.png</a:t>
            </a:r>
            <a:endParaRPr/>
          </a:p>
        </p:txBody>
      </p:sp>
      <p:sp>
        <p:nvSpPr>
          <p:cNvPr id="203" name="Google Shape;203;p19"/>
          <p:cNvSpPr txBox="1"/>
          <p:nvPr/>
        </p:nvSpPr>
        <p:spPr>
          <a:xfrm>
            <a:off x="8229600" y="731520"/>
            <a:ext cx="3596400" cy="133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game- </a:t>
            </a:r>
            <a:r>
              <a:rPr lang="hi-IN" sz="1300">
                <a:solidFill>
                  <a:srgbClr val="1B2A44"/>
                </a:solidFill>
                <a:latin typeface="Calibri"/>
                <a:ea typeface="Calibri"/>
                <a:cs typeface="Calibri"/>
                <a:sym typeface="Calibri"/>
              </a:rPr>
              <a:t>पिंकी</a:t>
            </a:r>
            <a:r>
              <a:rPr lang="hi-IN" sz="1300">
                <a:solidFill>
                  <a:srgbClr val="1B2A44"/>
                </a:solidFill>
                <a:latin typeface="Calibri"/>
                <a:ea typeface="Calibri"/>
                <a:cs typeface="Calibri"/>
                <a:sym typeface="Calibri"/>
              </a:rPr>
              <a:t> अपने दादाजी को पत्र में कुछ बाते लिखकर बताना चाहती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लेकिन उन वाक्यों में वह विराम चिह्न लगाना भूल गई है, आइए सही विराम चिह्न लगाने में उसकी मदद करें । </a:t>
            </a:r>
            <a:endParaRPr sz="1300">
              <a:solidFill>
                <a:srgbClr val="1B2A44"/>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0"/>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13 · 13_BUILD_PUNCT.png</a:t>
            </a:r>
            <a:endParaRPr/>
          </a:p>
        </p:txBody>
      </p:sp>
      <p:pic>
        <p:nvPicPr>
          <p:cNvPr descr="13_BUILD_PUNCT.png" id="209" name="Google Shape;209;p20"/>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210" name="Google Shape;210;p20"/>
          <p:cNvSpPr txBox="1"/>
          <p:nvPr/>
        </p:nvSpPr>
        <p:spPr>
          <a:xfrm>
            <a:off x="8229600" y="731520"/>
            <a:ext cx="3596400" cy="454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Text – वाक्य में सही स्थान पर ठप्पा लगाइए।</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यह वाक्य पढ़िए और वाक्य में सही जगह पर सही ठप्पा लगाइए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वाक्य- नमस्ते दादाजी, आप कैसे हैं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नीचे 2 stamp दिखानी हैं, पूर्णविराम और प्रश्न वाचक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नमस्ते दादाजी, आप कैसे हैं?</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vo- शाबाश!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1- wiggle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2- इस वाक्य में प्रश्न पूछा जा रहा है, सही विराम </a:t>
            </a:r>
            <a:r>
              <a:rPr lang="hi-IN" sz="1300">
                <a:solidFill>
                  <a:srgbClr val="1B2A44"/>
                </a:solidFill>
                <a:latin typeface="Calibri"/>
                <a:ea typeface="Calibri"/>
                <a:cs typeface="Calibri"/>
                <a:sym typeface="Calibri"/>
              </a:rPr>
              <a:t>चिह्न </a:t>
            </a:r>
            <a:r>
              <a:rPr lang="hi-IN" sz="1300">
                <a:solidFill>
                  <a:srgbClr val="1B2A44"/>
                </a:solidFill>
                <a:latin typeface="Calibri"/>
                <a:ea typeface="Calibri"/>
                <a:cs typeface="Calibri"/>
                <a:sym typeface="Calibri"/>
              </a:rPr>
              <a:t>वाला ठप्पा चुनिए और वाक्य के अंत में लगाइए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3- नमस्ते दादाजी, आप कैसे हैं?</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यह एक प्रश्न है । प्रश्न पूछने पर प्रश्न वाचक चिह्न लगाया जाता है ।</a:t>
            </a:r>
            <a:endParaRPr sz="1300">
              <a:solidFill>
                <a:srgbClr val="1B2A44"/>
              </a:solidFill>
              <a:latin typeface="Calibri"/>
              <a:ea typeface="Calibri"/>
              <a:cs typeface="Calibri"/>
              <a:sym typeface="Calibri"/>
            </a:endParaRPr>
          </a:p>
        </p:txBody>
      </p:sp>
      <p:pic>
        <p:nvPicPr>
          <p:cNvPr id="211" name="Google Shape;211;p20"/>
          <p:cNvPicPr preferRelativeResize="0"/>
          <p:nvPr/>
        </p:nvPicPr>
        <p:blipFill rotWithShape="1">
          <a:blip r:embed="rId4">
            <a:alphaModFix/>
          </a:blip>
          <a:srcRect b="0" l="0" r="0" t="0"/>
          <a:stretch/>
        </p:blipFill>
        <p:spPr>
          <a:xfrm>
            <a:off x="3491588" y="4252697"/>
            <a:ext cx="3750460" cy="246814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1"/>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16 · 16_BUILD_PUNCT.png</a:t>
            </a:r>
            <a:endParaRPr/>
          </a:p>
        </p:txBody>
      </p:sp>
      <p:pic>
        <p:nvPicPr>
          <p:cNvPr descr="16_BUILD_PUNCT.png" id="217" name="Google Shape;217;p21"/>
          <p:cNvPicPr preferRelativeResize="0"/>
          <p:nvPr/>
        </p:nvPicPr>
        <p:blipFill rotWithShape="1">
          <a:blip r:embed="rId3">
            <a:alphaModFix/>
          </a:blip>
          <a:srcRect b="0" l="0" r="0" t="0"/>
          <a:stretch/>
        </p:blipFill>
        <p:spPr>
          <a:xfrm>
            <a:off x="612648" y="1024128"/>
            <a:ext cx="7680960" cy="4298571"/>
          </a:xfrm>
          <a:prstGeom prst="rect">
            <a:avLst/>
          </a:prstGeom>
          <a:noFill/>
          <a:ln>
            <a:noFill/>
          </a:ln>
        </p:spPr>
      </p:pic>
      <p:sp>
        <p:nvSpPr>
          <p:cNvPr id="218" name="Google Shape;218;p21"/>
          <p:cNvSpPr txBox="1"/>
          <p:nvPr/>
        </p:nvSpPr>
        <p:spPr>
          <a:xfrm>
            <a:off x="8229600" y="731520"/>
            <a:ext cx="3596335" cy="614014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Text - वाक्य में सही स्थान पर ठप्पा लगाइए।</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यह वाक्य पढ़िए और वाक्य में सही जगह पर सही ठप्पा लगाइए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वाक्य- माँ ने मुझे मेरे जन्मदिन पर कई सारे खिलौने पेन और किताबें दिलाई हैं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नीचे 2 stamp दिखानी हैं, पूर्णविराम और अल्पविराम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माँ ने मुझे मेरे जन्मदिन पर कई सारे खिलौने, पेन और किताबें दिलाई हैं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vo- शाबाश!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1- wiggle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2- इस वाक्य में कई सारी चीजों के नाम बताए जा रहे हैं । सही विराम चिह्न वाला ठप्पा चुनिए और वाक्य के बीच और अंत में लगाइए।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3- माँ ने मुझे मेरे जन्मदिन पर कई सारे खिलौने, पेन और किताबें दिलाई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वाक्य में थोड़ा रुकने पर अल्प विराम और वाक्य पूरा होने पर पूर्ण विराम लगाया जाता है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hand nudge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2"/>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17 · 17_BUILD_PUNCT.png</a:t>
            </a:r>
            <a:endParaRPr/>
          </a:p>
        </p:txBody>
      </p:sp>
      <p:pic>
        <p:nvPicPr>
          <p:cNvPr descr="17_BUILD_PUNCT.png" id="224" name="Google Shape;224;p22"/>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225" name="Google Shape;225;p22"/>
          <p:cNvSpPr txBox="1"/>
          <p:nvPr/>
        </p:nvSpPr>
        <p:spPr>
          <a:xfrm>
            <a:off x="8229600" y="731520"/>
            <a:ext cx="3596335" cy="473975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Text - वाक्य सुनिए और सही चिह्न लगाइए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यह वाक्य सुनकर देखिए और वाक्य में सही जगह पर विराम चिह्न लगाइए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वाक्य- मुझे उपहार बहुत पसंद है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दिए गए चिह्न box में नहीं चाहिए, केवल चिह्न होना चाहिए जिसे drag करके लगाया जा सके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मुझे उपहार बहुत पसंद है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vo- शाबाश!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1- wiggle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2- यह एक सरल वाक्य है, सही विराम वाला ठप्पा चुनिए और वाक्य के अंत में लगाइए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3- मुझे उपहार बहुत पसंद है । वाक्य पूरा होने पर पूर्णविराम लगाया जाता है । hand nudge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17 · 17_BUILD_PUNCT.png</a:t>
            </a:r>
            <a:endParaRPr/>
          </a:p>
        </p:txBody>
      </p:sp>
      <p:pic>
        <p:nvPicPr>
          <p:cNvPr descr="17_BUILD_PUNCT.png" id="231" name="Google Shape;231;p23"/>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232" name="Google Shape;232;p23"/>
          <p:cNvSpPr txBox="1"/>
          <p:nvPr/>
        </p:nvSpPr>
        <p:spPr>
          <a:xfrm>
            <a:off x="8229600" y="731520"/>
            <a:ext cx="3596400" cy="7342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Text - वाक्य सुनिए और सही चिह्न लगाइए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Vo- इन वाक्यों को सुनकर देखिए और वाक्य में सही जगह पर विराम चिह्न लगाइए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वाक्य-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क्या आपको भी उपहार अच्छे लगते हैं  दादी जी कैसी हैं उनके आम केले और अमरूद के पौधे बड़े हुए या नहीं आप मुझे पत्र लिखकर बताना  मैं आपके पत्र का इंतज़ार करूँगी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आपकी प्यारी पिंकी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दिए गए चिह्न के स्थान पर box देना है, नीचे तीनों चिह्न आएंगे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वाक्य- क्या आपको भी उपहार अच्छे लगते हैं? दादी जी कैसी हैं? उनके आम, केले और अमरूद के पौधे बड़े हुए या नहीं? आप मुझे पत्र लिखकर बताना । मैं आपके पत्र का इंतज़ार करूँगी । </a:t>
            </a:r>
            <a:endParaRPr sz="1300">
              <a:solidFill>
                <a:srgbClr val="1B2A44"/>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hi-IN" sz="1300">
                <a:solidFill>
                  <a:srgbClr val="1B2A44"/>
                </a:solidFill>
                <a:latin typeface="Calibri"/>
                <a:ea typeface="Calibri"/>
                <a:cs typeface="Calibri"/>
                <a:sym typeface="Calibri"/>
              </a:rPr>
              <a:t>आपकी प्यारी पिंकी ।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Correct answer vo- शाबाश!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1- wiggle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2- इस वाक्य को देखिए, सही विराम चिह्न चुनिए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Hint 3-  correct mark, hand nudge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यह सरल वाक्य है इसके अंत में पूर्ण विराम आएगा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यहाँ प्रश्न पूछा जा रहा है, इसके अंत मे प्रश्न वाचक चिह्न आएगा । </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इस वाक्य में हम थोड़ा रुक रहे हैं, यहाँ अल्प विराम आएगा ।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4"/>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400">
                <a:solidFill>
                  <a:srgbClr val="0B3D8C"/>
                </a:solidFill>
                <a:latin typeface="Calibri"/>
                <a:ea typeface="Calibri"/>
                <a:cs typeface="Calibri"/>
                <a:sym typeface="Calibri"/>
              </a:rPr>
              <a:t>Page 19 · 19_CELEBRATION.png</a:t>
            </a:r>
            <a:endParaRPr/>
          </a:p>
        </p:txBody>
      </p:sp>
      <p:pic>
        <p:nvPicPr>
          <p:cNvPr descr="19_CELEBRATION.png" id="238" name="Google Shape;238;p24"/>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239" name="Google Shape;239;p24"/>
          <p:cNvSpPr txBox="1"/>
          <p:nvPr/>
        </p:nvSpPr>
        <p:spPr>
          <a:xfrm>
            <a:off x="8229600" y="731520"/>
            <a:ext cx="3596335"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hi-IN"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hi-IN" sz="1300">
                <a:solidFill>
                  <a:srgbClr val="1B2A44"/>
                </a:solidFill>
                <a:latin typeface="Calibri"/>
                <a:ea typeface="Calibri"/>
                <a:cs typeface="Calibri"/>
                <a:sym typeface="Calibri"/>
              </a:rPr>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